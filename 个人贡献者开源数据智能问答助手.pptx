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0"/>
  </p:notes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32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02.01.2026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大家好，今天我将为大家介绍一个激动人心的项目——LLM驱动的开源数据智能问答助手。这个项目旨在通过先进的大语言模型技术，彻底改变我们与开源数据交互的方式。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近年来，开源生态发展迅猛，数据量呈爆炸式增长，但如何从这些海量数据中高效地挖掘价值，成为了一个巨大的挑战。传统的数据分析工具往往需要用户具备专业的编程和SQL技能，这让很多非技术人员望而却步。因此，我们的目标是开发一个智能问答助手，通过自然语言交互，让每个人都能轻松地探索和分析开源数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项目有三大核心创新点。首先，我们利用大语言模型实现了从自然语言到SQL的智能转换，用户只需用日常语言提问，系统就能自动生成相应的查询语句。其次，我们实现了自动化的数据可视化，系统会根据数据特点自动选择最佳的图表类型。最后，我们构建了一个开源数据知识图谱，能够揭示项目、开发者和技术之间的复杂关系，提供更深度的分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项目的技术架构图。整个系统分为四层：接入层负责与用户交互；应用层是核心，包含了自然语言处理、SQL生成、可视化和知识图谱等关键模块；数据层负责存储和管理海量的开源数据；基础设施层则为整个系统提供计算和存储支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然，这个项目也面临着诸多技术挑战。例如，如何准确理解用户的自然语言查询，特别是那些模糊或复杂的意图；如何确保生成的SQL语句的正确性；如何智能地选择最合适的可视化方式；以及如何保证系统在处理海量数据时的性能和扩展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项目有着广泛的应用场景。它可以帮助开发者分析开源项目，了解其活跃度和技术趋势；可以为企业提供开发者画像，辅助人才招聘；还可以帮助用户进行技术选型。通过这些应用，我们希望能够提升开源社区的透明度，加速技术传播，并为开源生态的健康发展贡献力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总结一下，本项目通过三大核心创新，致力于打造一个智能、高效的开源数据问答助手。展望未来，我们计划集成更多的数据源，引入更先进的模型，并开发预测分析等高级功能，不断提升产品的价值。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jpe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jpe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4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svg"/><Relationship Id="rId3" Type="http://schemas.openxmlformats.org/officeDocument/2006/relationships/image" Target="../media/image25.jpeg"/><Relationship Id="rId7" Type="http://schemas.openxmlformats.org/officeDocument/2006/relationships/image" Target="../media/image27.svg"/><Relationship Id="rId12" Type="http://schemas.openxmlformats.org/officeDocument/2006/relationships/image" Target="../media/image3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11" Type="http://schemas.openxmlformats.org/officeDocument/2006/relationships/image" Target="../media/image31.svg"/><Relationship Id="rId5" Type="http://schemas.openxmlformats.org/officeDocument/2006/relationships/image" Target="../media/image4.svg"/><Relationship Id="rId15" Type="http://schemas.openxmlformats.org/officeDocument/2006/relationships/image" Target="../media/image35.svg"/><Relationship Id="rId10" Type="http://schemas.openxmlformats.org/officeDocument/2006/relationships/image" Target="../media/image30.png"/><Relationship Id="rId4" Type="http://schemas.openxmlformats.org/officeDocument/2006/relationships/image" Target="../media/image3.png"/><Relationship Id="rId9" Type="http://schemas.openxmlformats.org/officeDocument/2006/relationships/image" Target="../media/image29.svg"/><Relationship Id="rId14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6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11" Type="http://schemas.openxmlformats.org/officeDocument/2006/relationships/image" Target="../media/image17.svg"/><Relationship Id="rId5" Type="http://schemas.openxmlformats.org/officeDocument/2006/relationships/image" Target="../media/image38.svg"/><Relationship Id="rId10" Type="http://schemas.openxmlformats.org/officeDocument/2006/relationships/image" Target="../media/image16.png"/><Relationship Id="rId4" Type="http://schemas.openxmlformats.org/officeDocument/2006/relationships/image" Target="../media/image37.png"/><Relationship Id="rId9" Type="http://schemas.openxmlformats.org/officeDocument/2006/relationships/image" Target="../media/image4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5080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4" name="AutoShape 4"/>
          <p:cNvSpPr/>
          <p:nvPr/>
        </p:nvSpPr>
        <p:spPr>
          <a:xfrm>
            <a:off x="1016000" y="1948070"/>
            <a:ext cx="10160000" cy="12269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4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个人贡献者开源数据大模型智能问答助手</a:t>
            </a:r>
            <a:endParaRPr lang="en-US" sz="4400" dirty="0"/>
          </a:p>
        </p:txBody>
      </p:sp>
      <p:sp>
        <p:nvSpPr>
          <p:cNvPr id="5" name="AutoShape 5"/>
          <p:cNvSpPr/>
          <p:nvPr/>
        </p:nvSpPr>
        <p:spPr>
          <a:xfrm>
            <a:off x="5461000" y="3429000"/>
            <a:ext cx="1270000" cy="50800"/>
          </a:xfrm>
          <a:prstGeom prst="roundRect">
            <a:avLst>
              <a:gd name="adj" fmla="val 0"/>
            </a:avLst>
          </a:prstGeom>
          <a:solidFill>
            <a:srgbClr val="007A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3733800"/>
            <a:ext cx="1016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基于</a:t>
            </a:r>
            <a:r>
              <a:rPr lang="en-US" altLang="zh-CN" sz="24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OpenDigger</a:t>
            </a:r>
            <a:r>
              <a:rPr lang="zh-CN" altLang="en-US" sz="2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，</a:t>
            </a:r>
            <a:r>
              <a:rPr lang="en-US" altLang="zh-CN" sz="24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SQLBot</a:t>
            </a:r>
            <a:r>
              <a:rPr lang="zh-CN" altLang="en-US" sz="2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和</a:t>
            </a:r>
            <a:r>
              <a:rPr lang="en-US" altLang="zh-CN" sz="2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DataEase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20000"/>
          </a:blip>
          <a:srcRect/>
          <a:stretch>
            <a:fillRect/>
          </a:stretch>
        </p:blipFill>
        <p:spPr>
          <a:xfrm>
            <a:off x="-12701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项目背景与目标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A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6002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C4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22352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70000" y="22352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数据爆炸式增长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70000" y="25908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zh-CN" altLang="en-US" dirty="0">
                <a:solidFill>
                  <a:srgbClr val="D1D5DB"/>
                </a:solidFill>
                <a:latin typeface="Noto Sans SC"/>
                <a:ea typeface="Noto Sans SC"/>
                <a:sym typeface="Noto Sans SC"/>
              </a:rPr>
              <a:t>开源生态数据海量增长，个人开源社区贡献者需要更多数据处理工具的协助。</a:t>
            </a:r>
            <a:endParaRPr lang="en-US" sz="1100" dirty="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4215296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270000" y="4215296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缺乏智能交互工具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1263650" y="46736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缺少支持自然语言交互的智能数据分析工具</a:t>
            </a:r>
            <a:r>
              <a:rPr lang="en-US" sz="14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cxnSp>
        <p:nvCxnSpPr>
          <p:cNvPr id="15" name="Connector 15"/>
          <p:cNvCxnSpPr/>
          <p:nvPr/>
        </p:nvCxnSpPr>
        <p:spPr>
          <a:xfrm rot="5389051">
            <a:off x="4102100" y="3587760"/>
            <a:ext cx="3987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A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6604000" y="16002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C4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项目目标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000" y="22352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112000" y="22352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降低分析门槛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112000" y="25908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让</a:t>
            </a:r>
            <a:r>
              <a:rPr lang="zh-CN" altLang="en-US" sz="14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个人</a:t>
            </a:r>
            <a:r>
              <a:rPr lang="zh-CN" altLang="en-US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贡献者也能轻松进行开源社区数据分析，有利于提高对开源项目的了解，高效地进行开源贡献。</a:t>
            </a:r>
            <a:endParaRPr lang="en-US" sz="1100" dirty="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0" y="34036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112000" y="34036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自然语言交互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112000" y="37592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提供直观的自然语言界面，支持复杂查询。</a:t>
            </a:r>
            <a:endParaRPr lang="en-US" sz="110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04000" y="45720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112000" y="4572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自动可视化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7112000" y="49276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自动生成可视化图表，直观展示分析结果。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762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核心创新点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A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778000"/>
            <a:ext cx="3302000" cy="3556000"/>
          </a:xfrm>
          <a:prstGeom prst="roundRect">
            <a:avLst>
              <a:gd name="adj" fmla="val 3076"/>
            </a:avLst>
          </a:prstGeom>
          <a:solidFill>
            <a:srgbClr val="1F2937">
              <a:alpha val="70000"/>
            </a:srgbClr>
          </a:solidFill>
          <a:ln w="12700" cap="flat" cmpd="sng">
            <a:solidFill>
              <a:srgbClr val="007A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032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016000" y="26670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基于大语言模型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1016000" y="31115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D1D5DB"/>
                </a:solidFill>
                <a:latin typeface="Noto Sans SC"/>
                <a:ea typeface="Noto Sans SC"/>
                <a:sym typeface="Noto Sans SC"/>
              </a:rPr>
              <a:t>引入大语言模型协助开源数据分析，快速获取所需的数据，进一步开展智能分析。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4445000" y="1778000"/>
            <a:ext cx="3302000" cy="3556000"/>
          </a:xfrm>
          <a:prstGeom prst="roundRect">
            <a:avLst>
              <a:gd name="adj" fmla="val 3076"/>
            </a:avLst>
          </a:prstGeom>
          <a:solidFill>
            <a:srgbClr val="1F2937">
              <a:alpha val="70000"/>
            </a:srgbClr>
          </a:solidFill>
          <a:ln w="12700" cap="flat" cmpd="sng">
            <a:solidFill>
              <a:srgbClr val="007A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99000" y="20320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699000" y="26670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自动化数据可视化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31115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根据查询结果自动选择最优图表类型，支持交互式探索，让数据洞察更直观</a:t>
            </a:r>
            <a:r>
              <a:rPr lang="en-US" sz="14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8128000" y="1778000"/>
            <a:ext cx="3302000" cy="3556000"/>
          </a:xfrm>
          <a:prstGeom prst="roundRect">
            <a:avLst>
              <a:gd name="adj" fmla="val 3076"/>
            </a:avLst>
          </a:prstGeom>
          <a:solidFill>
            <a:srgbClr val="1F2937">
              <a:alpha val="70000"/>
            </a:srgbClr>
          </a:solidFill>
          <a:ln w="12700" cap="flat" cmpd="sng">
            <a:solidFill>
              <a:srgbClr val="007A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82000" y="20320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382000" y="26670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开源数据知识图谱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82000" y="31115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构建项目、开发者、技术栈关联图谱，提供深度关联分析与智能推荐。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4092">
            <a:off x="762004" y="558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A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</a:t>
            </a:r>
            <a:r>
              <a:rPr lang="zh-CN" altLang="en-US" sz="36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组件与</a:t>
            </a:r>
            <a:r>
              <a:rPr lang="en-US" sz="3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架构设计</a:t>
            </a:r>
            <a:endParaRPr lang="en-US" sz="1100" dirty="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A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" name="Connector 25"/>
          <p:cNvCxnSpPr/>
          <p:nvPr/>
        </p:nvCxnSpPr>
        <p:spPr>
          <a:xfrm rot="-4092">
            <a:off x="762004" y="558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A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33" name="表格 32">
            <a:extLst>
              <a:ext uri="{FF2B5EF4-FFF2-40B4-BE49-F238E27FC236}">
                <a16:creationId xmlns:a16="http://schemas.microsoft.com/office/drawing/2014/main" id="{8093A019-3567-10E9-5820-951A8AAA6F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710957"/>
              </p:ext>
            </p:extLst>
          </p:nvPr>
        </p:nvGraphicFramePr>
        <p:xfrm>
          <a:off x="799548" y="1370679"/>
          <a:ext cx="8127999" cy="40952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91195674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84367062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069202150"/>
                    </a:ext>
                  </a:extLst>
                </a:gridCol>
              </a:tblGrid>
              <a:tr h="376994"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Noto Sans SC" panose="020B0200000000000000" pitchFamily="34" charset="-122"/>
                          <a:ea typeface="Noto Sans SC" panose="020B0200000000000000" pitchFamily="34" charset="-122"/>
                        </a:rPr>
                        <a:t>组件名称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作用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技术定位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12263414"/>
                  </a:ext>
                </a:extLst>
              </a:tr>
              <a:tr h="743659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OpenDigger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Noto Sans SC" panose="020B0200000000000000" pitchFamily="34" charset="-122"/>
                          <a:ea typeface="Noto Sans SC" panose="020B0200000000000000" pitchFamily="34" charset="-122"/>
                          <a:cs typeface="+mn-cs"/>
                          <a:sym typeface="Arial"/>
                        </a:rPr>
                        <a:t>提供开源社区标准化数据底座，包含项目、开发者、协作、互动等全维度结构化数据</a:t>
                      </a:r>
                      <a:endParaRPr lang="zh-CN" altLang="en-US" dirty="0">
                        <a:latin typeface="Noto Sans SC" panose="020B0200000000000000" pitchFamily="34" charset="-122"/>
                        <a:ea typeface="Noto Sans SC" panose="020B0200000000000000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数据来源与存储层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159798"/>
                  </a:ext>
                </a:extLst>
              </a:tr>
              <a:tr h="960560">
                <a:tc>
                  <a:txBody>
                    <a:bodyPr/>
                    <a:lstStyle/>
                    <a:p>
                      <a:r>
                        <a:rPr lang="en-US" altLang="zh-CN" dirty="0" err="1"/>
                        <a:t>SQLBot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实现数据的即问即答，快速提炼获取所需的数据信息及可视化图表，并且支持进一步开展智能分析。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智能问答引擎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2891206"/>
                  </a:ext>
                </a:extLst>
              </a:tr>
              <a:tr h="526759">
                <a:tc>
                  <a:txBody>
                    <a:bodyPr/>
                    <a:lstStyle/>
                    <a:p>
                      <a:r>
                        <a:rPr lang="en-US" altLang="zh-CN" dirty="0"/>
                        <a:t>DataEase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生成可视化图表，支持图表类型切换、数据筛选与导出。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数据可视化层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5092938"/>
                  </a:ext>
                </a:extLst>
              </a:tr>
              <a:tr h="743659">
                <a:tc>
                  <a:txBody>
                    <a:bodyPr/>
                    <a:lstStyle/>
                    <a:p>
                      <a:r>
                        <a:rPr lang="zh-CN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后端服务（</a:t>
                      </a:r>
                      <a:r>
                        <a:rPr lang="en-US" altLang="zh-C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Flask</a:t>
                      </a:r>
                      <a:r>
                        <a:rPr lang="zh-CN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整合三大核心组件，提供 </a:t>
                      </a:r>
                      <a:r>
                        <a:rPr lang="en-US" altLang="zh-C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API </a:t>
                      </a:r>
                      <a:r>
                        <a:rPr lang="zh-CN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接口、用户权限管理、请求调度与数据缓存。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系统集成与调度层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6283745"/>
                  </a:ext>
                </a:extLst>
              </a:tr>
              <a:tr h="743659">
                <a:tc>
                  <a:txBody>
                    <a:bodyPr/>
                    <a:lstStyle/>
                    <a:p>
                      <a:r>
                        <a:rPr lang="zh-CN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前端界面（</a:t>
                      </a:r>
                      <a:r>
                        <a:rPr lang="en-US" altLang="zh-CN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Vue/React</a:t>
                      </a:r>
                      <a:r>
                        <a:rPr lang="zh-CN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）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提供用户交互入口，支持提问输入、结果展示、图表操作、历史查询管理。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用户交互层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004419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20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关键技术挑战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A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1778000"/>
            <a:ext cx="2476500" cy="2794000"/>
          </a:xfrm>
          <a:prstGeom prst="roundRect">
            <a:avLst>
              <a:gd name="adj" fmla="val 4102"/>
            </a:avLst>
          </a:prstGeom>
          <a:solidFill>
            <a:srgbClr val="1C2638">
              <a:alpha val="70000"/>
            </a:srgbClr>
          </a:solidFill>
          <a:ln w="12700" cap="flat" cmpd="sng">
            <a:solidFill>
              <a:srgbClr val="007A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0828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016000" y="26924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自然语言理解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3098800"/>
            <a:ext cx="1968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准确理解模糊查询和复杂意图。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771887" y="1806713"/>
            <a:ext cx="2476500" cy="2794000"/>
          </a:xfrm>
          <a:prstGeom prst="roundRect">
            <a:avLst>
              <a:gd name="adj" fmla="val 4102"/>
            </a:avLst>
          </a:prstGeom>
          <a:solidFill>
            <a:srgbClr val="1C2638">
              <a:alpha val="70000"/>
            </a:srgbClr>
          </a:solidFill>
          <a:ln w="12700" cap="flat" cmpd="sng">
            <a:solidFill>
              <a:srgbClr val="007A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20917" y="2097709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279887" y="2654024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智能数据可视化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5075030" y="3142974"/>
            <a:ext cx="1968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自动选择最合适的图表展示方式</a:t>
            </a:r>
            <a:r>
              <a:rPr lang="en-US" sz="14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8" name="AutoShape 18"/>
          <p:cNvSpPr/>
          <p:nvPr/>
        </p:nvSpPr>
        <p:spPr>
          <a:xfrm>
            <a:off x="8953500" y="1778000"/>
            <a:ext cx="2476500" cy="2794000"/>
          </a:xfrm>
          <a:prstGeom prst="roundRect">
            <a:avLst>
              <a:gd name="adj" fmla="val 4102"/>
            </a:avLst>
          </a:prstGeom>
          <a:solidFill>
            <a:srgbClr val="1C2638">
              <a:alpha val="70000"/>
            </a:srgbClr>
          </a:solidFill>
          <a:ln w="12700" cap="flat" cmpd="sng">
            <a:solidFill>
              <a:srgbClr val="007A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07500" y="20828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207500" y="2692400"/>
            <a:ext cx="1968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性能与扩展性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9207500" y="3098800"/>
            <a:ext cx="1968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处理海量数据，保证响应速度。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953000"/>
            <a:ext cx="10668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9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762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应用场景与价值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A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1651000"/>
            <a:ext cx="508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C4FF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22860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20800" y="23114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开源项目分析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320800" y="26924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分析项目的活跃度、贡献者构成、技术趋势等。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35306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20800" y="3556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开发者画像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320800" y="3937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了解开发者的技术栈、贡献历史、合作网络等。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2000" y="47752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20800" y="48006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技术选型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320800" y="51816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帮助企业和开发者进行技术选型和竞品分析。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5389257">
            <a:off x="4064000" y="367666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A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6604000" y="1651000"/>
            <a:ext cx="508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C4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项目价值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0" y="2286000"/>
            <a:ext cx="355600" cy="3556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62800" y="23114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提升</a:t>
            </a:r>
            <a:r>
              <a:rPr lang="zh-CN" alt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个人贡献者对开源项目的了解程度</a:t>
            </a:r>
            <a:endParaRPr lang="en-US" sz="1100" dirty="0"/>
          </a:p>
        </p:txBody>
      </p:sp>
      <p:sp>
        <p:nvSpPr>
          <p:cNvPr id="20" name="AutoShape 20"/>
          <p:cNvSpPr/>
          <p:nvPr/>
        </p:nvSpPr>
        <p:spPr>
          <a:xfrm>
            <a:off x="7162800" y="26924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提升开源社区的透明度和可理解性</a:t>
            </a:r>
            <a:r>
              <a:rPr lang="zh-CN" altLang="en-US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，使个人开发者更高效地为开源项目做出贡献。</a:t>
            </a:r>
            <a:endParaRPr lang="en-US" sz="1100" dirty="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04000" y="3530600"/>
            <a:ext cx="355600" cy="355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162800" y="3556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加速技术传播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162800" y="3937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加速开源技术的传播和应用。</a:t>
            </a:r>
            <a:endParaRPr lang="en-US" sz="1100"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04000" y="47752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162800" y="48006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赋能</a:t>
            </a:r>
            <a:r>
              <a:rPr lang="zh-CN" alt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开源</a:t>
            </a: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生态发展</a:t>
            </a:r>
            <a:endParaRPr lang="en-US" sz="1100" dirty="0"/>
          </a:p>
        </p:txBody>
      </p:sp>
      <p:sp>
        <p:nvSpPr>
          <p:cNvPr id="26" name="AutoShape 26"/>
          <p:cNvSpPr/>
          <p:nvPr/>
        </p:nvSpPr>
        <p:spPr>
          <a:xfrm>
            <a:off x="7162800" y="51816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为开源生态的健康发展提供数据支持。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2701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762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总结与展望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A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1651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项目总结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2286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70000" y="2286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项目目标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270000" y="26670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打造LLM驱动的开源数据智能问答助手，降低数据分析门槛</a:t>
            </a:r>
            <a:r>
              <a:rPr lang="zh-CN" altLang="en-US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，协助个人开发者高效选择合适的开源项目做出贡献。</a:t>
            </a:r>
            <a:endParaRPr lang="en-US" sz="1100" dirty="0"/>
          </a:p>
        </p:txBody>
      </p:sp>
      <p:cxnSp>
        <p:nvCxnSpPr>
          <p:cNvPr id="13" name="Connector 13"/>
          <p:cNvCxnSpPr/>
          <p:nvPr/>
        </p:nvCxnSpPr>
        <p:spPr>
          <a:xfrm rot="5386777">
            <a:off x="4445000" y="3295662"/>
            <a:ext cx="330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7A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604000" y="1651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7AFF"/>
                </a:solidFill>
                <a:latin typeface="Noto Sans SC"/>
                <a:ea typeface="Noto Sans SC"/>
                <a:cs typeface="Noto Sans SC"/>
                <a:sym typeface="Noto Sans SC"/>
              </a:rPr>
              <a:t>未来展望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2286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112000" y="2286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拓展数据源</a:t>
            </a:r>
            <a:r>
              <a:rPr lang="zh-CN" altLang="en-US" sz="16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和可视化工具</a:t>
            </a:r>
            <a:endParaRPr lang="en-US" sz="1100" dirty="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000" y="3556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12000" y="3556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引入先进模型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112000" y="39370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引入更先进的大语言模型，提升问答准确性</a:t>
            </a:r>
            <a:r>
              <a:rPr lang="en-US" sz="14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0" y="4826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112000" y="4826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开发高级功能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112000" y="52070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开发预测分析、异常检测等高级分析能力。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524</Words>
  <Application>Microsoft Office PowerPoint</Application>
  <PresentationFormat>宽屏</PresentationFormat>
  <Paragraphs>94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kuiye</dc:creator>
  <cp:lastModifiedBy>展辉 谈</cp:lastModifiedBy>
  <cp:revision>1</cp:revision>
  <dcterms:modified xsi:type="dcterms:W3CDTF">2026-01-01T18:32:09Z</dcterms:modified>
</cp:coreProperties>
</file>